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24271-4810-4B5A-B936-E01FA69CB8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4D196F-DC3D-4638-9EE6-24F321F94A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9C40A0-D60A-4DED-B640-4A55564FB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DEC8E-329C-4C16-AFBC-6C1DC9D1AB64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F2F05B-CDE6-4A11-AE81-34656228D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F310E4-5D4F-409D-8EA9-CBF0A8BFA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588E8-2F82-478C-A304-9B56D08535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4961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9B5D9-FD6D-45A9-8AD1-0A2A1A55A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9CE3B-89D7-4A3D-9E51-B10E9ABA4F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C078A8-FEFE-457B-8761-7A92A9176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DEC8E-329C-4C16-AFBC-6C1DC9D1AB64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7CDE6D-1494-484F-A569-1D9A9507B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B6D517-9781-4415-A123-55EF8A39B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588E8-2F82-478C-A304-9B56D08535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1375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9BB49-8289-4541-98D9-B1EBFD8C9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93A9D6-F1D7-4E63-884A-00AC28C008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3BAC9-A9E1-4DF5-8C96-AB04BCF33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DEC8E-329C-4C16-AFBC-6C1DC9D1AB64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648386-9EDB-41DC-9E9E-37394C587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815F04-ECD7-4579-94C8-C506F36C6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588E8-2F82-478C-A304-9B56D08535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6422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D6F8F-C13C-4729-A65A-FBA118DE2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BEEA9-6314-435B-A8EC-0EFE136A9C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A8C514-C127-4A3A-B454-73C7941DEC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9EFD55-AD05-4A20-99E0-F8E7A166B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DEC8E-329C-4C16-AFBC-6C1DC9D1AB64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87F2F3-8796-44FD-998B-DDBF71E70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BDDBE6-1DD8-4863-B43D-32B89573B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588E8-2F82-478C-A304-9B56D08535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681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C4DA1-D6A9-400F-A5D7-0E60912E5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1B65BD-35BC-420D-A2A6-860AEC9D66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8F610-74DC-4097-A6D7-8591F86429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45E844-87AF-4343-B476-710B1DE5AD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AEE637-0A20-4792-99DC-0711282663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58A292-AFE6-42E7-B86E-5BA0AC825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DEC8E-329C-4C16-AFBC-6C1DC9D1AB64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BDEEA2-C71A-4718-866A-AF2AE85EE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0BE76E-405D-4895-BFAC-2AC4E4CFE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588E8-2F82-478C-A304-9B56D08535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3095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1DB5D-8553-4B61-9AB8-F4017E542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098A62-0514-4344-AE96-5D8B7FAA3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DEC8E-329C-4C16-AFBC-6C1DC9D1AB64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77CF57-2C8D-4B14-A4BF-20CBA20CC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AFDD8B-2832-48F1-B6DE-1BE9AE1C5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588E8-2F82-478C-A304-9B56D08535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7752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5A7830-E56B-4148-8EFE-3500672A0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DEC8E-329C-4C16-AFBC-6C1DC9D1AB64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F475F1-AA70-4FC3-9AB1-C54262A2F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3F2D1F-473A-43C3-B6F2-D4869C003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588E8-2F82-478C-A304-9B56D08535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3606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39C1B-559C-4DA9-82F0-B71EFE02E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6E1E1-D10D-4623-B2BD-4B8D79B2D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2862C7-1370-486C-989A-73D540144B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26A8C-A8F1-43A0-ACAF-C6869454B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DEC8E-329C-4C16-AFBC-6C1DC9D1AB64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515A85-0A4E-4CE9-8817-0FF1B20EA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B6CB4F-588E-4348-B335-54B9E0888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588E8-2F82-478C-A304-9B56D08535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6319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29CE7-4C0E-4F12-B410-8CD049463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126E16-7606-4BE2-AB79-42D23CD838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2CC31C-F231-4FC2-8CB0-782F0C7B8C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AD2F5D-BE1F-4889-A80D-E1D071028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DEC8E-329C-4C16-AFBC-6C1DC9D1AB64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9165E4-9922-4952-96A8-21B4B050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052417-D8E5-4BC1-A990-A5C476089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588E8-2F82-478C-A304-9B56D08535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7060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5B58C-5E66-49CF-88BD-0CC1809CF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2D3CAE-A8CC-45C4-AA6B-9A340D4112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53F358-49AC-43B7-A64B-5FFC3A758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DEC8E-329C-4C16-AFBC-6C1DC9D1AB64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44C52A-86AE-4A2D-82B3-17D33E075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AB91D5-0D7E-4F7E-8F6C-D5C9950FF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588E8-2F82-478C-A304-9B56D08535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6878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AB8ABA-6D74-484F-AF30-E126BC49E9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471A05-2B67-46D5-8D12-3522C54E25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1E297-7D32-4576-A01E-0F317A9F7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DEC8E-329C-4C16-AFBC-6C1DC9D1AB64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71F74-DB2E-4703-BA5E-B9F11DFEE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245A9B-A006-473E-B60A-28B91A283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588E8-2F82-478C-A304-9B56D08535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7828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476D68-9159-4A49-A42D-6216B5376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94D282-99DE-407B-8372-969AA2D69D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95D0E5-26BA-40BC-A6C8-D19C4490C6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9DEC8E-329C-4C16-AFBC-6C1DC9D1AB64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538D26-F22B-45B4-B02D-C1939FAF24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092405-0E72-401D-9393-064122AD2E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4588E8-2F82-478C-A304-9B56D08535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4362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6F5329E-FC3A-4E37-BD99-BA4B412EE8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237" y="3643354"/>
            <a:ext cx="3964128" cy="30341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38CEE8A-3E39-4998-8540-8AC82C48B1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7340" y="609209"/>
            <a:ext cx="3964126" cy="303414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1ADE229-1AA2-44ED-9844-26B4F93FE2DF}"/>
              </a:ext>
            </a:extLst>
          </p:cNvPr>
          <p:cNvSpPr txBox="1"/>
          <p:nvPr/>
        </p:nvSpPr>
        <p:spPr>
          <a:xfrm>
            <a:off x="3705101" y="53439"/>
            <a:ext cx="3764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Works well for simple neuron shapes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E4C7A2C-2445-41B2-8C2A-665B4E9BD6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236" y="609207"/>
            <a:ext cx="3964126" cy="303414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9D867C9-58FF-4E03-BD4D-15DA3F092F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7341" y="3643355"/>
            <a:ext cx="3964126" cy="3034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707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0E45E-058A-4BEF-907B-790B1616C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Not so well for complex circular/ overlaps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5197AF-792F-4B40-8A75-B7F6497D8E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757" y="2042226"/>
            <a:ext cx="5353589" cy="40976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A616F0-19A8-4B33-86AB-645E852AD3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2577" y="2042226"/>
            <a:ext cx="5353588" cy="4097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442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48DD4-C8E8-4AD6-AB69-7559F7730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662" y="-85796"/>
            <a:ext cx="10515600" cy="1325563"/>
          </a:xfrm>
        </p:spPr>
        <p:txBody>
          <a:bodyPr/>
          <a:lstStyle/>
          <a:p>
            <a:r>
              <a:rPr lang="en-GB" dirty="0"/>
              <a:t>How it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59EC8-F98C-42FA-B951-493DB54D0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662" y="1180682"/>
            <a:ext cx="5406033" cy="24280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600" b="1" dirty="0"/>
              <a:t>1. Nucleus Detection</a:t>
            </a:r>
            <a:endParaRPr lang="en-GB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Extract blue (DAPI) channel from RGB image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Gaussian blur to smooth internal chromatin variation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Otsu threshold to create binary mask of bright nuclei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Connected component labelling — each separate blob = one nucleus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Filter: discard nuclei without green (HRP) signal nearby — removes non-neuronal DAPI</a:t>
            </a:r>
          </a:p>
          <a:p>
            <a:endParaRPr lang="en-GB" sz="16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16AFBA3-A720-46B5-B970-7609A3F13DAF}"/>
              </a:ext>
            </a:extLst>
          </p:cNvPr>
          <p:cNvSpPr txBox="1">
            <a:spLocks/>
          </p:cNvSpPr>
          <p:nvPr/>
        </p:nvSpPr>
        <p:spPr>
          <a:xfrm>
            <a:off x="391662" y="3798214"/>
            <a:ext cx="5572627" cy="32406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600" b="1" dirty="0"/>
              <a:t>2. Neuron Tracing</a:t>
            </a:r>
            <a:endParaRPr lang="en-GB" sz="1600" dirty="0"/>
          </a:p>
          <a:p>
            <a:r>
              <a:rPr lang="en-GB" sz="1600" dirty="0"/>
              <a:t>For each nucleus centroid, region-grow on the red (tubulin) channel</a:t>
            </a:r>
          </a:p>
          <a:p>
            <a:r>
              <a:rPr lang="en-GB" sz="1600" dirty="0"/>
              <a:t>Flood-fill includes all connected pixels above an intensity threshold</a:t>
            </a:r>
          </a:p>
          <a:p>
            <a:r>
              <a:rPr lang="en-GB" sz="1600" dirty="0"/>
              <a:t>Keeps only the connected component containing the seed point</a:t>
            </a:r>
          </a:p>
          <a:p>
            <a:endParaRPr lang="en-GB" sz="16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47702CB-BE2E-4C74-A0D3-9214DC63427D}"/>
              </a:ext>
            </a:extLst>
          </p:cNvPr>
          <p:cNvSpPr txBox="1">
            <a:spLocks/>
          </p:cNvSpPr>
          <p:nvPr/>
        </p:nvSpPr>
        <p:spPr>
          <a:xfrm>
            <a:off x="5964289" y="1180682"/>
            <a:ext cx="6025179" cy="22333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600" b="1" dirty="0"/>
              <a:t>3. Neuron Filtering (discard non-neurons)</a:t>
            </a:r>
            <a:endParaRPr lang="en-GB" sz="1600" dirty="0"/>
          </a:p>
          <a:p>
            <a:r>
              <a:rPr lang="en-GB" sz="1600" dirty="0"/>
              <a:t>Seed intensity: skip if no bright tubulin signal near the nucleus</a:t>
            </a:r>
          </a:p>
          <a:p>
            <a:r>
              <a:rPr lang="en-GB" sz="1600" dirty="0"/>
              <a:t>Mask too small: discard masks below a minimum pixel count</a:t>
            </a:r>
          </a:p>
          <a:p>
            <a:r>
              <a:rPr lang="en-GB" sz="1600" dirty="0"/>
              <a:t>Mask too large: discard masks covering &gt;15% of image (noise/artefact)</a:t>
            </a:r>
          </a:p>
          <a:p>
            <a:r>
              <a:rPr lang="en-GB" sz="1600" dirty="0"/>
              <a:t>Border exclusion: skip nuclei near image edges (white border artefact)</a:t>
            </a:r>
          </a:p>
          <a:p>
            <a:r>
              <a:rPr lang="en-GB" sz="1600" dirty="0"/>
              <a:t>Geodesic reach: tubulin must extend at least 2× nucleus radius from the centroid, measured along the mask — removes blobs without neurite-like projections</a:t>
            </a:r>
          </a:p>
          <a:p>
            <a:endParaRPr lang="en-GB" sz="16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64D76FA-D0EE-4CA0-8731-B3392012FD6B}"/>
              </a:ext>
            </a:extLst>
          </p:cNvPr>
          <p:cNvSpPr txBox="1">
            <a:spLocks/>
          </p:cNvSpPr>
          <p:nvPr/>
        </p:nvSpPr>
        <p:spPr>
          <a:xfrm>
            <a:off x="5964289" y="4080015"/>
            <a:ext cx="5406033" cy="23564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600" b="1" dirty="0"/>
              <a:t>4. Axon Measurement</a:t>
            </a:r>
            <a:endParaRPr lang="en-GB" sz="1600" dirty="0"/>
          </a:p>
          <a:p>
            <a:r>
              <a:rPr lang="en-GB" sz="1600" dirty="0"/>
              <a:t>Identify axon tip: geodesic distance (path through the mask) from nucleus centroid — the furthest reachable point = axon tip</a:t>
            </a:r>
          </a:p>
          <a:p>
            <a:r>
              <a:rPr lang="en-GB" sz="1600" dirty="0"/>
              <a:t>Trace axon path: intensity-weighted Dijkstra from tip toward nucleus — path follows the brightest tubulin signal (centre of the axon)</a:t>
            </a:r>
          </a:p>
          <a:p>
            <a:r>
              <a:rPr lang="en-GB" sz="1600" dirty="0"/>
              <a:t>Terminate path: stop when the trace reaches within a set distance of the nucleus mask — prevents looping around the soma</a:t>
            </a:r>
          </a:p>
          <a:p>
            <a:r>
              <a:rPr lang="en-GB" sz="1600" dirty="0"/>
              <a:t>Axon length = summed pixel-by-pixel distance along the traced path</a:t>
            </a:r>
          </a:p>
          <a:p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4097697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61F0D-DF76-4A50-9919-E60510836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3A698-35AB-4B5D-9C0E-0759FD3449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000" dirty="0"/>
              <a:t>I don’t see a reliable way to include the complex overlapping neurons in this analysis. If I begin tweaking parameters to try and do this, I fear it may open up a can of worms with respect to non neuronal signals. </a:t>
            </a:r>
          </a:p>
          <a:p>
            <a:r>
              <a:rPr lang="en-GB" sz="2000" dirty="0"/>
              <a:t>I suggest that after this system batch processes a panel, manual review of all results (ill build a little viewing system to count or discount neurons before it saves everything into csv formats). Perhaps these discounted neurons could be manually labelled or just ignored. </a:t>
            </a:r>
          </a:p>
          <a:p>
            <a:r>
              <a:rPr lang="en-GB" sz="2000" dirty="0"/>
              <a:t>Some tweaking needed but automated axon measurements is basically done. </a:t>
            </a:r>
          </a:p>
          <a:p>
            <a:r>
              <a:rPr lang="en-GB" sz="2000" dirty="0"/>
              <a:t>Just need to work on MDI now – next week </a:t>
            </a:r>
          </a:p>
        </p:txBody>
      </p:sp>
    </p:spTree>
    <p:extLst>
      <p:ext uri="{BB962C8B-B14F-4D97-AF65-F5344CB8AC3E}">
        <p14:creationId xmlns:p14="http://schemas.microsoft.com/office/powerpoint/2010/main" val="2940161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390</Words>
  <Application>Microsoft Office PowerPoint</Application>
  <PresentationFormat>Widescreen</PresentationFormat>
  <Paragraphs>29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Not so well for complex circular/ overlaps</vt:lpstr>
      <vt:lpstr>How it works</vt:lpstr>
      <vt:lpstr>Next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Dylan Lowe</dc:creator>
  <cp:lastModifiedBy>Dylan Lowe</cp:lastModifiedBy>
  <cp:revision>3</cp:revision>
  <dcterms:created xsi:type="dcterms:W3CDTF">2026-02-27T12:58:38Z</dcterms:created>
  <dcterms:modified xsi:type="dcterms:W3CDTF">2026-02-27T13:03:21Z</dcterms:modified>
</cp:coreProperties>
</file>